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589C688B-3612-4909-94C3-407894C7A79C}" type="datetimeFigureOut">
              <a:rPr lang="en-IN" smtClean="0"/>
              <a:t>25-07-2026</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60355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9C688B-3612-4909-94C3-407894C7A79C}" type="datetimeFigureOut">
              <a:rPr lang="en-IN" smtClean="0"/>
              <a:t>25-07-2026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3876830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9C688B-3612-4909-94C3-407894C7A79C}" type="datetimeFigureOut">
              <a:rPr lang="en-IN" smtClean="0"/>
              <a:t>25-07-2026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2373886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9C688B-3612-4909-94C3-407894C7A79C}" type="datetimeFigureOut">
              <a:rPr lang="en-IN" smtClean="0"/>
              <a:t>25-07-2026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3004229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9C688B-3612-4909-94C3-407894C7A79C}" type="datetimeFigureOut">
              <a:rPr lang="en-IN" smtClean="0"/>
              <a:t>25-07-2026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2161199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9C688B-3612-4909-94C3-407894C7A79C}" type="datetimeFigureOut">
              <a:rPr lang="en-IN" smtClean="0"/>
              <a:t>25-07-2026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4155842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9C688B-3612-4909-94C3-407894C7A79C}" type="datetimeFigureOut">
              <a:rPr lang="en-IN" smtClean="0"/>
              <a:t>25-07-2026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4020374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9C688B-3612-4909-94C3-407894C7A79C}" type="datetimeFigureOut">
              <a:rPr lang="en-IN" smtClean="0"/>
              <a:t>25-07-2026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26337746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9C688B-3612-4909-94C3-407894C7A79C}" type="datetimeFigureOut">
              <a:rPr lang="en-IN" smtClean="0"/>
              <a:t>25-07-2026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3999822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9C688B-3612-4909-94C3-407894C7A79C}" type="datetimeFigureOut">
              <a:rPr lang="en-IN" smtClean="0"/>
              <a:t>25-07-2026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3262285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9C688B-3612-4909-94C3-407894C7A79C}" type="datetimeFigureOut">
              <a:rPr lang="en-IN" smtClean="0"/>
              <a:t>25-07-2026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24721385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9C688B-3612-4909-94C3-407894C7A79C}" type="datetimeFigureOut">
              <a:rPr lang="en-IN" smtClean="0"/>
              <a:t>25-07-2026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680804-1BAD-4F13-A1B9-B621E88696D9}"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23932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9C688B-3612-4909-94C3-407894C7A79C}" type="datetimeFigureOut">
              <a:rPr lang="en-IN" smtClean="0"/>
              <a:t>25-07-2026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3049356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89C688B-3612-4909-94C3-407894C7A79C}" type="datetimeFigureOut">
              <a:rPr lang="en-IN" smtClean="0"/>
              <a:t>25-07-2026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2835854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89C688B-3612-4909-94C3-407894C7A79C}" type="datetimeFigureOut">
              <a:rPr lang="en-IN" smtClean="0"/>
              <a:t>25-07-2026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1936993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9C688B-3612-4909-94C3-407894C7A79C}" type="datetimeFigureOut">
              <a:rPr lang="en-IN" smtClean="0"/>
              <a:t>25-07-2026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14091470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9C688B-3612-4909-94C3-407894C7A79C}" type="datetimeFigureOut">
              <a:rPr lang="en-IN" smtClean="0"/>
              <a:t>25-07-2026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680804-1BAD-4F13-A1B9-B621E88696D9}" type="slidenum">
              <a:rPr lang="en-IN" smtClean="0"/>
              <a:t>‹#›</a:t>
            </a:fld>
            <a:endParaRPr lang="en-IN"/>
          </a:p>
        </p:txBody>
      </p:sp>
    </p:spTree>
    <p:extLst>
      <p:ext uri="{BB962C8B-B14F-4D97-AF65-F5344CB8AC3E}">
        <p14:creationId xmlns:p14="http://schemas.microsoft.com/office/powerpoint/2010/main" val="3318116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89C688B-3612-4909-94C3-407894C7A79C}" type="datetimeFigureOut">
              <a:rPr lang="en-IN" smtClean="0"/>
              <a:t>25-07-2026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9680804-1BAD-4F13-A1B9-B621E88696D9}" type="slidenum">
              <a:rPr lang="en-IN" smtClean="0"/>
              <a:t>‹#›</a:t>
            </a:fld>
            <a:endParaRPr lang="en-IN"/>
          </a:p>
        </p:txBody>
      </p:sp>
    </p:spTree>
    <p:extLst>
      <p:ext uri="{BB962C8B-B14F-4D97-AF65-F5344CB8AC3E}">
        <p14:creationId xmlns:p14="http://schemas.microsoft.com/office/powerpoint/2010/main" val="346594833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FCA7C-C71F-FE9B-74B1-55E9C95C460F}"/>
              </a:ext>
            </a:extLst>
          </p:cNvPr>
          <p:cNvSpPr>
            <a:spLocks noGrp="1"/>
          </p:cNvSpPr>
          <p:nvPr>
            <p:ph type="ctrTitle"/>
          </p:nvPr>
        </p:nvSpPr>
        <p:spPr>
          <a:xfrm>
            <a:off x="1524000" y="1122362"/>
            <a:ext cx="9144000" cy="2133599"/>
          </a:xfrm>
        </p:spPr>
        <p:txBody>
          <a:bodyPr/>
          <a:lstStyle/>
          <a:p>
            <a:r>
              <a:rPr lang="en-US" dirty="0"/>
              <a:t>DATABASE MANAGEMENT SYSTEM(DBMS)</a:t>
            </a:r>
            <a:endParaRPr lang="en-IN" dirty="0"/>
          </a:p>
        </p:txBody>
      </p:sp>
      <p:sp>
        <p:nvSpPr>
          <p:cNvPr id="3" name="Subtitle 2">
            <a:extLst>
              <a:ext uri="{FF2B5EF4-FFF2-40B4-BE49-F238E27FC236}">
                <a16:creationId xmlns:a16="http://schemas.microsoft.com/office/drawing/2014/main" id="{3729A2B6-F918-5C81-D339-42C75314BBE8}"/>
              </a:ext>
            </a:extLst>
          </p:cNvPr>
          <p:cNvSpPr>
            <a:spLocks noGrp="1"/>
          </p:cNvSpPr>
          <p:nvPr>
            <p:ph type="subTitle" idx="1"/>
          </p:nvPr>
        </p:nvSpPr>
        <p:spPr>
          <a:xfrm>
            <a:off x="7750627" y="5375321"/>
            <a:ext cx="3721371" cy="720634"/>
          </a:xfrm>
        </p:spPr>
        <p:txBody>
          <a:bodyPr>
            <a:normAutofit/>
          </a:bodyPr>
          <a:lstStyle/>
          <a:p>
            <a:pPr algn="ctr"/>
            <a:r>
              <a:rPr lang="en-US" dirty="0"/>
              <a:t>R Jalaja(192525365)</a:t>
            </a:r>
          </a:p>
          <a:p>
            <a:pPr algn="ctr"/>
            <a:endParaRPr lang="en-US" dirty="0"/>
          </a:p>
        </p:txBody>
      </p:sp>
    </p:spTree>
    <p:extLst>
      <p:ext uri="{BB962C8B-B14F-4D97-AF65-F5344CB8AC3E}">
        <p14:creationId xmlns:p14="http://schemas.microsoft.com/office/powerpoint/2010/main" val="3547310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56D28-1572-5908-1386-78733E6BF3B6}"/>
              </a:ext>
            </a:extLst>
          </p:cNvPr>
          <p:cNvSpPr>
            <a:spLocks noGrp="1"/>
          </p:cNvSpPr>
          <p:nvPr>
            <p:ph type="title"/>
          </p:nvPr>
        </p:nvSpPr>
        <p:spPr/>
        <p:txBody>
          <a:bodyPr/>
          <a:lstStyle/>
          <a:p>
            <a:r>
              <a:rPr lang="en-US" dirty="0"/>
              <a:t>DEFINATION</a:t>
            </a:r>
            <a:endParaRPr lang="en-IN" dirty="0"/>
          </a:p>
        </p:txBody>
      </p:sp>
      <p:sp>
        <p:nvSpPr>
          <p:cNvPr id="3" name="Content Placeholder 2">
            <a:extLst>
              <a:ext uri="{FF2B5EF4-FFF2-40B4-BE49-F238E27FC236}">
                <a16:creationId xmlns:a16="http://schemas.microsoft.com/office/drawing/2014/main" id="{DC8E4BA2-4933-E1F7-4BF1-FCCC8C8312B4}"/>
              </a:ext>
            </a:extLst>
          </p:cNvPr>
          <p:cNvSpPr>
            <a:spLocks noGrp="1"/>
          </p:cNvSpPr>
          <p:nvPr>
            <p:ph idx="1"/>
          </p:nvPr>
        </p:nvSpPr>
        <p:spPr>
          <a:xfrm>
            <a:off x="539932" y="1956618"/>
            <a:ext cx="10507480" cy="4113255"/>
          </a:xfrm>
        </p:spPr>
        <p:txBody>
          <a:bodyPr>
            <a:normAutofit/>
          </a:bodyPr>
          <a:lstStyle/>
          <a:p>
            <a:pPr algn="just"/>
            <a:r>
              <a:rPr lang="en-US" sz="1800" dirty="0">
                <a:latin typeface="Times New Roman" panose="02020603050405020304" pitchFamily="18" charset="0"/>
                <a:cs typeface="Times New Roman" panose="02020603050405020304" pitchFamily="18" charset="0"/>
              </a:rPr>
              <a:t>A Database Management System (DBMS) is software designed to manage databases by allowing users to store, retrieve, update, and delete data efficiently while maintaining data integrity, security, and consistency.</a:t>
            </a:r>
          </a:p>
          <a:p>
            <a:pPr marL="0" indent="0" algn="just">
              <a:buNone/>
            </a:pPr>
            <a:r>
              <a:rPr lang="en-US" sz="1800" b="1" dirty="0">
                <a:latin typeface="Times New Roman" panose="02020603050405020304" pitchFamily="18" charset="0"/>
                <a:cs typeface="Times New Roman" panose="02020603050405020304" pitchFamily="18" charset="0"/>
              </a:rPr>
              <a:t>Key Features</a:t>
            </a:r>
          </a:p>
          <a:p>
            <a:pPr algn="just"/>
            <a:r>
              <a:rPr lang="en-US" sz="1800" dirty="0">
                <a:latin typeface="Times New Roman" panose="02020603050405020304" pitchFamily="18" charset="0"/>
                <a:cs typeface="Times New Roman" panose="02020603050405020304" pitchFamily="18" charset="0"/>
              </a:rPr>
              <a:t>Efficient data storage and retrieval.</a:t>
            </a:r>
          </a:p>
          <a:p>
            <a:pPr algn="just"/>
            <a:r>
              <a:rPr lang="en-US" sz="1800" dirty="0">
                <a:latin typeface="Times New Roman" panose="02020603050405020304" pitchFamily="18" charset="0"/>
                <a:cs typeface="Times New Roman" panose="02020603050405020304" pitchFamily="18" charset="0"/>
              </a:rPr>
              <a:t>Data security through authentication and authorization.</a:t>
            </a:r>
          </a:p>
          <a:p>
            <a:pPr algn="just"/>
            <a:r>
              <a:rPr lang="en-US" sz="1800" dirty="0">
                <a:latin typeface="Times New Roman" panose="02020603050405020304" pitchFamily="18" charset="0"/>
                <a:cs typeface="Times New Roman" panose="02020603050405020304" pitchFamily="18" charset="0"/>
              </a:rPr>
              <a:t>Data integrity and consistency.</a:t>
            </a:r>
          </a:p>
          <a:p>
            <a:pPr algn="just"/>
            <a:r>
              <a:rPr lang="en-US" sz="1800" dirty="0">
                <a:latin typeface="Times New Roman" panose="02020603050405020304" pitchFamily="18" charset="0"/>
                <a:cs typeface="Times New Roman" panose="02020603050405020304" pitchFamily="18" charset="0"/>
              </a:rPr>
              <a:t>Multi-user access with concurrency control.</a:t>
            </a:r>
          </a:p>
          <a:p>
            <a:pPr algn="just"/>
            <a:r>
              <a:rPr lang="en-US" sz="1800" dirty="0">
                <a:latin typeface="Times New Roman" panose="02020603050405020304" pitchFamily="18" charset="0"/>
                <a:cs typeface="Times New Roman" panose="02020603050405020304" pitchFamily="18" charset="0"/>
              </a:rPr>
              <a:t>Backup and recovery mechanisms.</a:t>
            </a:r>
          </a:p>
          <a:p>
            <a:pPr algn="just"/>
            <a:r>
              <a:rPr lang="en-US" sz="1800" dirty="0">
                <a:latin typeface="Times New Roman" panose="02020603050405020304" pitchFamily="18" charset="0"/>
                <a:cs typeface="Times New Roman" panose="02020603050405020304" pitchFamily="18" charset="0"/>
              </a:rPr>
              <a:t>Reduced data redundancy.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6612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F392A-9A1A-D402-C0E6-90B33D17D140}"/>
              </a:ext>
            </a:extLst>
          </p:cNvPr>
          <p:cNvSpPr>
            <a:spLocks noGrp="1"/>
          </p:cNvSpPr>
          <p:nvPr>
            <p:ph type="title"/>
          </p:nvPr>
        </p:nvSpPr>
        <p:spPr/>
        <p:txBody>
          <a:bodyPr/>
          <a:lstStyle/>
          <a:p>
            <a:r>
              <a:rPr lang="en-US" dirty="0"/>
              <a:t>OBJECTIVES OF DBMS</a:t>
            </a:r>
            <a:endParaRPr lang="en-IN" dirty="0"/>
          </a:p>
        </p:txBody>
      </p:sp>
      <p:sp>
        <p:nvSpPr>
          <p:cNvPr id="3" name="Content Placeholder 2">
            <a:extLst>
              <a:ext uri="{FF2B5EF4-FFF2-40B4-BE49-F238E27FC236}">
                <a16:creationId xmlns:a16="http://schemas.microsoft.com/office/drawing/2014/main" id="{775925AF-6AAA-B7CC-E971-3459CFDF8D4E}"/>
              </a:ext>
            </a:extLst>
          </p:cNvPr>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To provide efficient and systematic data storage.</a:t>
            </a:r>
          </a:p>
          <a:p>
            <a:r>
              <a:rPr lang="en-US" dirty="0">
                <a:latin typeface="Times New Roman" panose="02020603050405020304" pitchFamily="18" charset="0"/>
                <a:cs typeface="Times New Roman" panose="02020603050405020304" pitchFamily="18" charset="0"/>
              </a:rPr>
              <a:t>To minimize data redundancy and inconsistency.</a:t>
            </a:r>
          </a:p>
          <a:p>
            <a:r>
              <a:rPr lang="en-US" dirty="0">
                <a:latin typeface="Times New Roman" panose="02020603050405020304" pitchFamily="18" charset="0"/>
                <a:cs typeface="Times New Roman" panose="02020603050405020304" pitchFamily="18" charset="0"/>
              </a:rPr>
              <a:t>To ensure data security and privacy.</a:t>
            </a:r>
          </a:p>
          <a:p>
            <a:r>
              <a:rPr lang="en-US" dirty="0">
                <a:latin typeface="Times New Roman" panose="02020603050405020304" pitchFamily="18" charset="0"/>
                <a:cs typeface="Times New Roman" panose="02020603050405020304" pitchFamily="18" charset="0"/>
              </a:rPr>
              <a:t>To support simultaneous access by multiple users.</a:t>
            </a:r>
          </a:p>
          <a:p>
            <a:r>
              <a:rPr lang="en-US" dirty="0">
                <a:latin typeface="Times New Roman" panose="02020603050405020304" pitchFamily="18" charset="0"/>
                <a:cs typeface="Times New Roman" panose="02020603050405020304" pitchFamily="18" charset="0"/>
              </a:rPr>
              <a:t>To maintain data integrity and reliability.</a:t>
            </a:r>
          </a:p>
          <a:p>
            <a:r>
              <a:rPr lang="en-US" dirty="0">
                <a:latin typeface="Times New Roman" panose="02020603050405020304" pitchFamily="18" charset="0"/>
                <a:cs typeface="Times New Roman" panose="02020603050405020304" pitchFamily="18" charset="0"/>
              </a:rPr>
              <a:t>To provide backup and recovery in case of system failures.</a:t>
            </a:r>
          </a:p>
          <a:p>
            <a:r>
              <a:rPr lang="en-US" dirty="0">
                <a:latin typeface="Times New Roman" panose="02020603050405020304" pitchFamily="18" charset="0"/>
                <a:cs typeface="Times New Roman" panose="02020603050405020304" pitchFamily="18" charset="0"/>
              </a:rPr>
              <a:t>To simplify database management and improve productivity</a:t>
            </a:r>
            <a:r>
              <a:rPr lang="en-US" dirty="0"/>
              <a:t>.</a:t>
            </a:r>
            <a:endParaRPr lang="en-IN" dirty="0"/>
          </a:p>
        </p:txBody>
      </p:sp>
    </p:spTree>
    <p:extLst>
      <p:ext uri="{BB962C8B-B14F-4D97-AF65-F5344CB8AC3E}">
        <p14:creationId xmlns:p14="http://schemas.microsoft.com/office/powerpoint/2010/main" val="2208680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1280D-021D-701E-E008-E431B2AB1362}"/>
              </a:ext>
            </a:extLst>
          </p:cNvPr>
          <p:cNvSpPr>
            <a:spLocks noGrp="1"/>
          </p:cNvSpPr>
          <p:nvPr>
            <p:ph type="title"/>
          </p:nvPr>
        </p:nvSpPr>
        <p:spPr/>
        <p:txBody>
          <a:bodyPr/>
          <a:lstStyle/>
          <a:p>
            <a:r>
              <a:rPr lang="en-US" dirty="0"/>
              <a:t>ADVANTAGES OF  DBMS</a:t>
            </a:r>
            <a:endParaRPr lang="en-IN" dirty="0"/>
          </a:p>
        </p:txBody>
      </p:sp>
      <p:sp>
        <p:nvSpPr>
          <p:cNvPr id="3" name="Content Placeholder 2">
            <a:extLst>
              <a:ext uri="{FF2B5EF4-FFF2-40B4-BE49-F238E27FC236}">
                <a16:creationId xmlns:a16="http://schemas.microsoft.com/office/drawing/2014/main" id="{90F36541-9E06-EC32-4E0B-D9B092F94651}"/>
              </a:ext>
            </a:extLst>
          </p:cNvPr>
          <p:cNvSpPr>
            <a:spLocks noGrp="1"/>
          </p:cNvSpPr>
          <p:nvPr>
            <p:ph idx="1"/>
          </p:nvPr>
        </p:nvSpPr>
        <p:spPr/>
        <p:txBody>
          <a:bodyPr>
            <a:normAutofit fontScale="85000" lnSpcReduction="20000"/>
          </a:bodyPr>
          <a:lstStyle/>
          <a:p>
            <a:r>
              <a:rPr lang="en-IN" dirty="0">
                <a:latin typeface="Times New Roman" panose="02020603050405020304" pitchFamily="18" charset="0"/>
                <a:cs typeface="Times New Roman" panose="02020603050405020304" pitchFamily="18" charset="0"/>
              </a:rPr>
              <a:t>Eliminates duplicate data and reduces storage requirements.</a:t>
            </a:r>
          </a:p>
          <a:p>
            <a:r>
              <a:rPr lang="en-IN" dirty="0">
                <a:latin typeface="Times New Roman" panose="02020603050405020304" pitchFamily="18" charset="0"/>
                <a:cs typeface="Times New Roman" panose="02020603050405020304" pitchFamily="18" charset="0"/>
              </a:rPr>
              <a:t>Enables fast and efficient data retrieval.</a:t>
            </a:r>
          </a:p>
          <a:p>
            <a:r>
              <a:rPr lang="en-IN" dirty="0">
                <a:latin typeface="Times New Roman" panose="02020603050405020304" pitchFamily="18" charset="0"/>
                <a:cs typeface="Times New Roman" panose="02020603050405020304" pitchFamily="18" charset="0"/>
              </a:rPr>
              <a:t>Improves data security using authentication and access control.</a:t>
            </a:r>
          </a:p>
          <a:p>
            <a:r>
              <a:rPr lang="en-IN" dirty="0">
                <a:latin typeface="Times New Roman" panose="02020603050405020304" pitchFamily="18" charset="0"/>
                <a:cs typeface="Times New Roman" panose="02020603050405020304" pitchFamily="18" charset="0"/>
              </a:rPr>
              <a:t>Supports data sharing among multiple users.</a:t>
            </a:r>
          </a:p>
          <a:p>
            <a:r>
              <a:rPr lang="en-IN" dirty="0">
                <a:latin typeface="Times New Roman" panose="02020603050405020304" pitchFamily="18" charset="0"/>
                <a:cs typeface="Times New Roman" panose="02020603050405020304" pitchFamily="18" charset="0"/>
              </a:rPr>
              <a:t>Ensures data consistency and accuracy.</a:t>
            </a:r>
          </a:p>
          <a:p>
            <a:r>
              <a:rPr lang="en-IN" dirty="0">
                <a:latin typeface="Times New Roman" panose="02020603050405020304" pitchFamily="18" charset="0"/>
                <a:cs typeface="Times New Roman" panose="02020603050405020304" pitchFamily="18" charset="0"/>
              </a:rPr>
              <a:t>Provides automatic backup and recovery.</a:t>
            </a:r>
          </a:p>
          <a:p>
            <a:r>
              <a:rPr lang="en-IN" dirty="0">
                <a:latin typeface="Times New Roman" panose="02020603050405020304" pitchFamily="18" charset="0"/>
                <a:cs typeface="Times New Roman" panose="02020603050405020304" pitchFamily="18" charset="0"/>
              </a:rPr>
              <a:t>Enhances decision-making through reliable data management.</a:t>
            </a:r>
          </a:p>
          <a:p>
            <a:r>
              <a:rPr lang="en-IN" dirty="0">
                <a:latin typeface="Times New Roman" panose="02020603050405020304" pitchFamily="18" charset="0"/>
                <a:cs typeface="Times New Roman" panose="02020603050405020304" pitchFamily="18" charset="0"/>
              </a:rPr>
              <a:t>Reduces application development time by providing standardized database services</a:t>
            </a:r>
          </a:p>
        </p:txBody>
      </p:sp>
    </p:spTree>
    <p:extLst>
      <p:ext uri="{BB962C8B-B14F-4D97-AF65-F5344CB8AC3E}">
        <p14:creationId xmlns:p14="http://schemas.microsoft.com/office/powerpoint/2010/main" val="2138296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B144E-9A8D-6263-E2A0-EE7A4366D8AF}"/>
              </a:ext>
            </a:extLst>
          </p:cNvPr>
          <p:cNvSpPr>
            <a:spLocks noGrp="1"/>
          </p:cNvSpPr>
          <p:nvPr>
            <p:ph type="title"/>
          </p:nvPr>
        </p:nvSpPr>
        <p:spPr/>
        <p:txBody>
          <a:bodyPr/>
          <a:lstStyle/>
          <a:p>
            <a:r>
              <a:rPr lang="en-US" dirty="0"/>
              <a:t>COMPONENTS OF DBMS</a:t>
            </a:r>
            <a:endParaRPr lang="en-IN" dirty="0"/>
          </a:p>
        </p:txBody>
      </p:sp>
      <p:sp>
        <p:nvSpPr>
          <p:cNvPr id="3" name="Content Placeholder 2">
            <a:extLst>
              <a:ext uri="{FF2B5EF4-FFF2-40B4-BE49-F238E27FC236}">
                <a16:creationId xmlns:a16="http://schemas.microsoft.com/office/drawing/2014/main" id="{991946AA-CCA7-0026-C01E-199DA6011DC8}"/>
              </a:ext>
            </a:extLst>
          </p:cNvPr>
          <p:cNvSpPr>
            <a:spLocks noGrp="1"/>
          </p:cNvSpPr>
          <p:nvPr>
            <p:ph idx="1"/>
          </p:nvPr>
        </p:nvSpPr>
        <p:spPr/>
        <p:txBody>
          <a:bodyPr>
            <a:normAutofit fontScale="85000" lnSpcReduction="20000"/>
          </a:bodyPr>
          <a:lstStyle/>
          <a:p>
            <a:r>
              <a:rPr lang="en-IN" dirty="0">
                <a:latin typeface="Times New Roman" panose="02020603050405020304" pitchFamily="18" charset="0"/>
                <a:cs typeface="Times New Roman" panose="02020603050405020304" pitchFamily="18" charset="0"/>
              </a:rPr>
              <a:t>Database: Stores organized data.</a:t>
            </a:r>
          </a:p>
          <a:p>
            <a:r>
              <a:rPr lang="en-IN" dirty="0">
                <a:latin typeface="Times New Roman" panose="02020603050405020304" pitchFamily="18" charset="0"/>
                <a:cs typeface="Times New Roman" panose="02020603050405020304" pitchFamily="18" charset="0"/>
              </a:rPr>
              <a:t>DBMS Software: Manages all database operations.</a:t>
            </a:r>
          </a:p>
          <a:p>
            <a:r>
              <a:rPr lang="en-IN" dirty="0">
                <a:latin typeface="Times New Roman" panose="02020603050405020304" pitchFamily="18" charset="0"/>
                <a:cs typeface="Times New Roman" panose="02020603050405020304" pitchFamily="18" charset="0"/>
              </a:rPr>
              <a:t>Database Administrator (DBA): Controls security, backup, and maintenance.</a:t>
            </a:r>
          </a:p>
          <a:p>
            <a:r>
              <a:rPr lang="en-IN" dirty="0">
                <a:latin typeface="Times New Roman" panose="02020603050405020304" pitchFamily="18" charset="0"/>
                <a:cs typeface="Times New Roman" panose="02020603050405020304" pitchFamily="18" charset="0"/>
              </a:rPr>
              <a:t>Application Programs: Allow users to interact with the database.</a:t>
            </a:r>
          </a:p>
          <a:p>
            <a:r>
              <a:rPr lang="en-IN" dirty="0">
                <a:latin typeface="Times New Roman" panose="02020603050405020304" pitchFamily="18" charset="0"/>
                <a:cs typeface="Times New Roman" panose="02020603050405020304" pitchFamily="18" charset="0"/>
              </a:rPr>
              <a:t>End Users: Access and use stored information.</a:t>
            </a:r>
          </a:p>
          <a:p>
            <a:r>
              <a:rPr lang="en-IN" b="1" dirty="0">
                <a:latin typeface="Times New Roman" panose="02020603050405020304" pitchFamily="18" charset="0"/>
                <a:cs typeface="Times New Roman" panose="02020603050405020304" pitchFamily="18" charset="0"/>
              </a:rPr>
              <a:t>Basic Architecture :</a:t>
            </a:r>
          </a:p>
          <a:p>
            <a:pPr marL="0" indent="0">
              <a:buNone/>
            </a:pPr>
            <a:r>
              <a:rPr lang="en-IN" dirty="0">
                <a:latin typeface="Times New Roman" panose="02020603050405020304" pitchFamily="18" charset="0"/>
                <a:cs typeface="Times New Roman" panose="02020603050405020304" pitchFamily="18" charset="0"/>
              </a:rPr>
              <a:t>      Users → Application → DBMS → Database</a:t>
            </a:r>
          </a:p>
          <a:p>
            <a:r>
              <a:rPr lang="en-IN" dirty="0">
                <a:latin typeface="Times New Roman" panose="02020603050405020304" pitchFamily="18" charset="0"/>
                <a:cs typeface="Times New Roman" panose="02020603050405020304" pitchFamily="18" charset="0"/>
              </a:rPr>
              <a:t>This architecture ensures secure and efficient communication between users and stored data</a:t>
            </a:r>
            <a:r>
              <a:rPr lang="en-IN" dirty="0"/>
              <a:t>.</a:t>
            </a:r>
          </a:p>
        </p:txBody>
      </p:sp>
    </p:spTree>
    <p:extLst>
      <p:ext uri="{BB962C8B-B14F-4D97-AF65-F5344CB8AC3E}">
        <p14:creationId xmlns:p14="http://schemas.microsoft.com/office/powerpoint/2010/main" val="1451815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E212C-8E8D-998D-764E-5B04DEA78750}"/>
              </a:ext>
            </a:extLst>
          </p:cNvPr>
          <p:cNvSpPr>
            <a:spLocks noGrp="1"/>
          </p:cNvSpPr>
          <p:nvPr>
            <p:ph type="title"/>
          </p:nvPr>
        </p:nvSpPr>
        <p:spPr/>
        <p:txBody>
          <a:bodyPr/>
          <a:lstStyle/>
          <a:p>
            <a:r>
              <a:rPr lang="en-US" dirty="0"/>
              <a:t>REAL-WORLD APPLICATIONS</a:t>
            </a:r>
            <a:endParaRPr lang="en-IN" dirty="0"/>
          </a:p>
        </p:txBody>
      </p:sp>
      <p:sp>
        <p:nvSpPr>
          <p:cNvPr id="3" name="Content Placeholder 2">
            <a:extLst>
              <a:ext uri="{FF2B5EF4-FFF2-40B4-BE49-F238E27FC236}">
                <a16:creationId xmlns:a16="http://schemas.microsoft.com/office/drawing/2014/main" id="{00FB7B4B-7264-FAD0-DD17-776DBF0F5437}"/>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 Banking – Customer accounts and transactions.</a:t>
            </a:r>
          </a:p>
          <a:p>
            <a:r>
              <a:rPr lang="en-US" dirty="0">
                <a:latin typeface="Times New Roman" panose="02020603050405020304" pitchFamily="18" charset="0"/>
                <a:cs typeface="Times New Roman" panose="02020603050405020304" pitchFamily="18" charset="0"/>
              </a:rPr>
              <a:t> Hospitals – Patient records.</a:t>
            </a:r>
          </a:p>
          <a:p>
            <a:r>
              <a:rPr lang="en-US" dirty="0">
                <a:latin typeface="Times New Roman" panose="02020603050405020304" pitchFamily="18" charset="0"/>
                <a:cs typeface="Times New Roman" panose="02020603050405020304" pitchFamily="18" charset="0"/>
              </a:rPr>
              <a:t> Education – Student databases.</a:t>
            </a:r>
          </a:p>
          <a:p>
            <a:r>
              <a:rPr lang="en-US" dirty="0">
                <a:latin typeface="Times New Roman" panose="02020603050405020304" pitchFamily="18" charset="0"/>
                <a:cs typeface="Times New Roman" panose="02020603050405020304" pitchFamily="18" charset="0"/>
              </a:rPr>
              <a:t> E-commerce – Orders and payments.</a:t>
            </a:r>
          </a:p>
          <a:p>
            <a:r>
              <a:rPr lang="en-US" dirty="0">
                <a:latin typeface="Times New Roman" panose="02020603050405020304" pitchFamily="18" charset="0"/>
                <a:cs typeface="Times New Roman" panose="02020603050405020304" pitchFamily="18" charset="0"/>
              </a:rPr>
              <a:t> Railway/Airline Reservation – Ticket booking.</a:t>
            </a:r>
          </a:p>
          <a:p>
            <a:r>
              <a:rPr lang="en-US" dirty="0">
                <a:latin typeface="Times New Roman" panose="02020603050405020304" pitchFamily="18" charset="0"/>
                <a:cs typeface="Times New Roman" panose="02020603050405020304" pitchFamily="18" charset="0"/>
              </a:rPr>
              <a:t> Library Management – Books and members.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6151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FB9ED-7BAA-6EC4-EE51-3B501ECEC421}"/>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F059F58D-E375-4E8B-A8B6-5EA5C0B1B50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 Database Management System is the backbone of modern information systems. It provides a secure, reliable, and efficient way to store and manage large volumes of data. By ensuring data integrity, minimizing redundancy, and supporting multiple users, DBMS has become an essential technology in business, education, healthcare, banking, and many other sectors. As organizations continue to generate vast amounts of data, the importance of DBMS will continue to grow.</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5038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DF11-B08E-4D97-C724-BBA4F09A7A53}"/>
              </a:ext>
            </a:extLst>
          </p:cNvPr>
          <p:cNvSpPr>
            <a:spLocks noGrp="1"/>
          </p:cNvSpPr>
          <p:nvPr>
            <p:ph type="title"/>
          </p:nvPr>
        </p:nvSpPr>
        <p:spPr>
          <a:xfrm>
            <a:off x="1141413" y="618517"/>
            <a:ext cx="9905998" cy="4759727"/>
          </a:xfrm>
        </p:spPr>
        <p:txBody>
          <a:bodyPr/>
          <a:lstStyle/>
          <a:p>
            <a:r>
              <a:rPr lang="en-US"/>
              <a:t>                    </a:t>
            </a:r>
            <a:r>
              <a:rPr lang="en-US" sz="7200"/>
              <a:t>THANK YOU</a:t>
            </a:r>
            <a:r>
              <a:rPr lang="en-US"/>
              <a:t>  </a:t>
            </a:r>
            <a:endParaRPr lang="en-IN" dirty="0"/>
          </a:p>
        </p:txBody>
      </p:sp>
    </p:spTree>
    <p:extLst>
      <p:ext uri="{BB962C8B-B14F-4D97-AF65-F5344CB8AC3E}">
        <p14:creationId xmlns:p14="http://schemas.microsoft.com/office/powerpoint/2010/main" val="2435878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28</TotalTime>
  <Words>412</Words>
  <Application>Microsoft Office PowerPoint</Application>
  <PresentationFormat>Widescreen</PresentationFormat>
  <Paragraphs>47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Times New Roman</vt:lpstr>
      <vt:lpstr>Tw Cen MT</vt:lpstr>
      <vt:lpstr>Circuit</vt:lpstr>
      <vt:lpstr>DATABASE MANAGEMENT SYSTEM(DBMS)</vt:lpstr>
      <vt:lpstr>DEFINATION</vt:lpstr>
      <vt:lpstr>OBJECTIVES OF DBMS</vt:lpstr>
      <vt:lpstr>ADVANTAGES OF  DBMS</vt:lpstr>
      <vt:lpstr>COMPONENTS OF DBMS</vt:lpstr>
      <vt:lpstr>REAL-WORLD APPLICATIONS</vt:lpstr>
      <vt:lpstr>CONCLUSION</vt:lpstr>
      <vt:lpstr>                    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K.V. Vishnu</dc:creator>
  <cp:lastModifiedBy>Jalaja R</cp:lastModifiedBy>
  <cp:revision>4</cp:revision>
  <dcterms:created xsi:type="dcterms:W3CDTF">2026-07-24T16:26:58Z</dcterms:created>
  <dcterms:modified xsi:type="dcterms:W3CDTF">2026-07-25T07:34:31Z</dcterms:modified>
</cp:coreProperties>
</file>